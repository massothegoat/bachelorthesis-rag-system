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Nuni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Nunito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Nunito-italic.fntdata"/><Relationship Id="rId12" Type="http://schemas.openxmlformats.org/officeDocument/2006/relationships/slide" Target="slides/slide7.xml"/><Relationship Id="rId34" Type="http://schemas.openxmlformats.org/officeDocument/2006/relationships/font" Target="fonts/Nuni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Nuni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892a1a1d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892a1a1d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892a1a1d4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892a1a1d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892a1a1d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892a1a1d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892a1a1d4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4892a1a1d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892a1a1d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892a1a1d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892a1a1d4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892a1a1d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99f9ccea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99f9ccea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99f9ccea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99f9ccea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99f9ccea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99f9ccea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99f9ccea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99f9ccea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9a14708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79a14708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9a147084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79a147084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9a147084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79a147084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9a147084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9a147084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b1da3657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7b1da3657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4892a1a1d4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4892a1a1d4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4892a1a1d4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4892a1a1d4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8e9b25df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78e9b25df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78e9b25df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78e9b25df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4892a1a1d4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4892a1a1d4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78e9b25df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78e9b25df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79a147084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79a147084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7a1c703d6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7a1c703d6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7ac900e19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7ac900e19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4892a1a1d4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4892a1a1d4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4892a1a1d4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4892a1a1d4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91350" y="1395896"/>
            <a:ext cx="5361300" cy="21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Progettazione e sviluppo di un sistema RAG per l’accesso intelligente alla conoscenza aziendale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6335750" y="3653850"/>
            <a:ext cx="2267100" cy="9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Laureando: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Massolari Mattia 740458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0" name="Google Shape;130;p13"/>
          <p:cNvSpPr txBox="1"/>
          <p:nvPr>
            <p:ph idx="1" type="subTitle"/>
          </p:nvPr>
        </p:nvSpPr>
        <p:spPr>
          <a:xfrm>
            <a:off x="3270100" y="3653850"/>
            <a:ext cx="3672900" cy="10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Relatori: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Prof. Serina Ivan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Pro</a:t>
            </a:r>
            <a:r>
              <a:rPr lang="it">
                <a:solidFill>
                  <a:schemeClr val="dk2"/>
                </a:solidFill>
              </a:rPr>
              <a:t>f. Gerevini Alfonso Emilio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31" name="Google Shape;131;p13" title="logoUn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0100" y="376500"/>
            <a:ext cx="2603800" cy="9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742800" y="1807075"/>
            <a:ext cx="7658400" cy="27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L’azienda opera in formato digitale nel settore della salute e sicurezza sul lavoro. </a:t>
            </a:r>
            <a:endParaRPr sz="18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800"/>
              <a:t>Sviluppa svariati corsi e fornisce una piattaforma Learning Management System (LMS) per garantire gestione e monitoraggio della didattica.</a:t>
            </a:r>
            <a:endParaRPr sz="18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800"/>
              <a:t>Nella piattaforma </a:t>
            </a:r>
            <a:r>
              <a:rPr b="1" lang="it" sz="1800"/>
              <a:t>DynDevice</a:t>
            </a:r>
            <a:r>
              <a:rPr lang="it" sz="1800"/>
              <a:t> ci sono diverse funzionalità, tra cui una pagina di progress destinata al </a:t>
            </a:r>
            <a:r>
              <a:rPr lang="it" sz="1800"/>
              <a:t>personale</a:t>
            </a:r>
            <a:r>
              <a:rPr lang="it" sz="1800"/>
              <a:t> dell’azienda.</a:t>
            </a:r>
            <a:endParaRPr sz="1800"/>
          </a:p>
        </p:txBody>
      </p:sp>
      <p:pic>
        <p:nvPicPr>
          <p:cNvPr id="137" name="Google Shape;137;p14" title="logo_MI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8200" y="437275"/>
            <a:ext cx="4507599" cy="93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819150" y="5089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Obiettivi</a:t>
            </a:r>
            <a:endParaRPr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819150" y="17417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Progettazione e sviluppo sistema RAG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Supporto nella ricerca di contenuto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Semplificare accesso e gestione informazioni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19150" y="5089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Natural Language Processing (NLP)</a:t>
            </a:r>
            <a:endParaRPr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19150" y="2084625"/>
            <a:ext cx="3231300" cy="13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NLP nasce per aiutare il computer a capire, interpretare e manipolare il linguaggio umano.</a:t>
            </a:r>
            <a:endParaRPr sz="18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50" name="Google Shape;15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8150" y="1463527"/>
            <a:ext cx="3828224" cy="29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819150" y="4945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Large Language Model (LLM)</a:t>
            </a:r>
            <a:endParaRPr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819150" y="1948200"/>
            <a:ext cx="4341900" cy="17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Comprendere linguaggio naturale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Generare testo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Tradurre</a:t>
            </a:r>
            <a:endParaRPr sz="1800"/>
          </a:p>
        </p:txBody>
      </p:sp>
      <p:pic>
        <p:nvPicPr>
          <p:cNvPr id="157" name="Google Shape;157;p17" title="LLM-GPT.jpg"/>
          <p:cNvPicPr preferRelativeResize="0"/>
          <p:nvPr/>
        </p:nvPicPr>
        <p:blipFill rotWithShape="1">
          <a:blip r:embed="rId3">
            <a:alphaModFix/>
          </a:blip>
          <a:srcRect b="8925" l="0" r="0" t="0"/>
          <a:stretch/>
        </p:blipFill>
        <p:spPr>
          <a:xfrm>
            <a:off x="5067775" y="1260928"/>
            <a:ext cx="2895099" cy="332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819150" y="5590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Retrieval Augmented Generation (RAG)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819150" y="16468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/>
              <a:t>RAG</a:t>
            </a:r>
            <a:r>
              <a:rPr lang="it" sz="1800"/>
              <a:t> è un approccio che </a:t>
            </a:r>
            <a:r>
              <a:rPr b="1" lang="it" sz="1800"/>
              <a:t>estende le capacità degli LLM</a:t>
            </a:r>
            <a:r>
              <a:rPr lang="it" sz="1800"/>
              <a:t> senza avere la necessità di riaddestrare il modello, per fare riferimento a dati esterni prima di generare una risposta. Questo migliora l’accuratezza e la coerenza delle risposte.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800"/>
              <a:t>RAG ha come obiettivo quello di generare del </a:t>
            </a:r>
            <a:r>
              <a:rPr b="1" lang="it" sz="1800"/>
              <a:t>contenuto rilevante senza allucinazioni</a:t>
            </a:r>
            <a:r>
              <a:rPr lang="it" sz="1800"/>
              <a:t>, garantendo sempre più fiducia negli utenti che lo utilizzano.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819150" y="487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Schema implementativo RAG</a:t>
            </a:r>
            <a:endParaRPr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819150" y="1352925"/>
            <a:ext cx="2500800" cy="31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Il funzionamento della RAG si può dividere in due fasi:</a:t>
            </a:r>
            <a:endParaRPr sz="1800"/>
          </a:p>
          <a:p>
            <a:pPr indent="-3429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it" sz="1800"/>
              <a:t>Indexing</a:t>
            </a:r>
            <a:endParaRPr b="1" sz="1800"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 sz="1800"/>
              <a:t>Retrieval and Generation</a:t>
            </a:r>
            <a:endParaRPr b="1" sz="18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800"/>
              <a:t>Per la progettazione è stato utilizzato </a:t>
            </a:r>
            <a:r>
              <a:rPr b="1" lang="it" sz="1800"/>
              <a:t>LangChain</a:t>
            </a:r>
            <a:r>
              <a:rPr lang="it" sz="1800"/>
              <a:t>.</a:t>
            </a:r>
            <a:endParaRPr sz="18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70" name="Google Shape;170;p19"/>
          <p:cNvPicPr preferRelativeResize="0"/>
          <p:nvPr/>
        </p:nvPicPr>
        <p:blipFill rotWithShape="1">
          <a:blip r:embed="rId3">
            <a:alphaModFix/>
          </a:blip>
          <a:srcRect b="27421" l="0" r="0" t="0"/>
          <a:stretch/>
        </p:blipFill>
        <p:spPr>
          <a:xfrm>
            <a:off x="3319950" y="1825962"/>
            <a:ext cx="5455524" cy="222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819150" y="2993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Indexing</a:t>
            </a:r>
            <a:endParaRPr/>
          </a:p>
        </p:txBody>
      </p:sp>
      <p:pic>
        <p:nvPicPr>
          <p:cNvPr id="176" name="Google Shape;176;p20" title="langchain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940250"/>
            <a:ext cx="7505700" cy="359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/>
          <p:nvPr/>
        </p:nvSpPr>
        <p:spPr>
          <a:xfrm>
            <a:off x="819150" y="1253925"/>
            <a:ext cx="1726500" cy="296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819150" y="2993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Indexing</a:t>
            </a:r>
            <a:endParaRPr/>
          </a:p>
        </p:txBody>
      </p:sp>
      <p:pic>
        <p:nvPicPr>
          <p:cNvPr id="183" name="Google Shape;183;p21" title="langchain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988888"/>
            <a:ext cx="7505700" cy="359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/>
          <p:nvPr/>
        </p:nvSpPr>
        <p:spPr>
          <a:xfrm>
            <a:off x="2753325" y="1302538"/>
            <a:ext cx="1726500" cy="296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819150" y="2993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Indexing</a:t>
            </a:r>
            <a:endParaRPr/>
          </a:p>
        </p:txBody>
      </p:sp>
      <p:pic>
        <p:nvPicPr>
          <p:cNvPr id="190" name="Google Shape;190;p22" title="langchain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988888"/>
            <a:ext cx="7505700" cy="359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/>
          <p:nvPr/>
        </p:nvSpPr>
        <p:spPr>
          <a:xfrm>
            <a:off x="4666025" y="1302538"/>
            <a:ext cx="1726500" cy="296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type="title"/>
          </p:nvPr>
        </p:nvSpPr>
        <p:spPr>
          <a:xfrm>
            <a:off x="819150" y="2993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Indexing</a:t>
            </a:r>
            <a:endParaRPr/>
          </a:p>
        </p:txBody>
      </p:sp>
      <p:pic>
        <p:nvPicPr>
          <p:cNvPr id="197" name="Google Shape;197;p23" title="langchain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988888"/>
            <a:ext cx="7505700" cy="359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/>
          <p:nvPr/>
        </p:nvSpPr>
        <p:spPr>
          <a:xfrm>
            <a:off x="6598350" y="1302538"/>
            <a:ext cx="1726500" cy="296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type="title"/>
          </p:nvPr>
        </p:nvSpPr>
        <p:spPr>
          <a:xfrm>
            <a:off x="819150" y="4301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Retrieval &amp; Generation</a:t>
            </a:r>
            <a:endParaRPr/>
          </a:p>
        </p:txBody>
      </p:sp>
      <p:pic>
        <p:nvPicPr>
          <p:cNvPr id="204" name="Google Shape;204;p24" title="Q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837" y="1266900"/>
            <a:ext cx="5510324" cy="326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4" title="Q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188" y="1045525"/>
            <a:ext cx="6367124" cy="377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819150" y="4301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Retrieval &amp; Generation</a:t>
            </a:r>
            <a:endParaRPr/>
          </a:p>
        </p:txBody>
      </p:sp>
      <p:pic>
        <p:nvPicPr>
          <p:cNvPr id="211" name="Google Shape;211;p25" title="Q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188" y="1045525"/>
            <a:ext cx="6367124" cy="377457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/>
          <p:nvPr/>
        </p:nvSpPr>
        <p:spPr>
          <a:xfrm>
            <a:off x="3778300" y="1231125"/>
            <a:ext cx="1912800" cy="166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819150" y="4301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Retrieval &amp; Generation</a:t>
            </a:r>
            <a:endParaRPr/>
          </a:p>
        </p:txBody>
      </p:sp>
      <p:pic>
        <p:nvPicPr>
          <p:cNvPr id="218" name="Google Shape;218;p26" title="Q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837" y="1266900"/>
            <a:ext cx="5510324" cy="32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6"/>
          <p:cNvSpPr/>
          <p:nvPr/>
        </p:nvSpPr>
        <p:spPr>
          <a:xfrm>
            <a:off x="5834250" y="2434600"/>
            <a:ext cx="1783800" cy="2235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6" title="Q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188" y="1045525"/>
            <a:ext cx="6367124" cy="377457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6"/>
          <p:cNvSpPr/>
          <p:nvPr/>
        </p:nvSpPr>
        <p:spPr>
          <a:xfrm>
            <a:off x="5855775" y="2427450"/>
            <a:ext cx="1783800" cy="2235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819150" y="4301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Retrieval &amp; Generation</a:t>
            </a:r>
            <a:endParaRPr/>
          </a:p>
        </p:txBody>
      </p:sp>
      <p:pic>
        <p:nvPicPr>
          <p:cNvPr id="227" name="Google Shape;227;p27" title="Q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837" y="1266900"/>
            <a:ext cx="5510324" cy="32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7"/>
          <p:cNvSpPr/>
          <p:nvPr/>
        </p:nvSpPr>
        <p:spPr>
          <a:xfrm>
            <a:off x="3656525" y="2980350"/>
            <a:ext cx="2027400" cy="1682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7" title="Q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188" y="1045525"/>
            <a:ext cx="6367124" cy="377457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/>
          <p:nvPr/>
        </p:nvSpPr>
        <p:spPr>
          <a:xfrm>
            <a:off x="3674375" y="2980350"/>
            <a:ext cx="1991700" cy="1682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1636375" y="2420300"/>
            <a:ext cx="2027400" cy="2242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27"/>
          <p:cNvCxnSpPr/>
          <p:nvPr/>
        </p:nvCxnSpPr>
        <p:spPr>
          <a:xfrm flipH="1">
            <a:off x="3663650" y="3007700"/>
            <a:ext cx="7200" cy="16377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819150" y="4444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di progress</a:t>
            </a:r>
            <a:endParaRPr/>
          </a:p>
        </p:txBody>
      </p:sp>
      <p:pic>
        <p:nvPicPr>
          <p:cNvPr id="238" name="Google Shape;238;p28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288" y="1109350"/>
            <a:ext cx="6307425" cy="360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 txBox="1"/>
          <p:nvPr>
            <p:ph type="title"/>
          </p:nvPr>
        </p:nvSpPr>
        <p:spPr>
          <a:xfrm>
            <a:off x="819150" y="4444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Metodologia: Analisi e preparazione dei dati</a:t>
            </a:r>
            <a:endParaRPr/>
          </a:p>
        </p:txBody>
      </p:sp>
      <p:sp>
        <p:nvSpPr>
          <p:cNvPr id="244" name="Google Shape;244;p29"/>
          <p:cNvSpPr txBox="1"/>
          <p:nvPr>
            <p:ph idx="1" type="body"/>
          </p:nvPr>
        </p:nvSpPr>
        <p:spPr>
          <a:xfrm>
            <a:off x="819150" y="11789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800"/>
              <a:t>La base di dati su cui si basa il sistema RAG è formata da un database composto da </a:t>
            </a:r>
            <a:r>
              <a:rPr b="1" lang="it" sz="1800"/>
              <a:t>574 progress</a:t>
            </a:r>
            <a:r>
              <a:rPr lang="it" sz="1800"/>
              <a:t>, ognuno con i suoi messaggi.</a:t>
            </a:r>
            <a:endParaRPr sz="1800"/>
          </a:p>
        </p:txBody>
      </p:sp>
      <p:pic>
        <p:nvPicPr>
          <p:cNvPr id="245" name="Google Shape;2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225" y="2105103"/>
            <a:ext cx="6595549" cy="251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type="title"/>
          </p:nvPr>
        </p:nvSpPr>
        <p:spPr>
          <a:xfrm>
            <a:off x="819150" y="5089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Database vettoriale: FAISS</a:t>
            </a:r>
            <a:endParaRPr/>
          </a:p>
        </p:txBody>
      </p:sp>
      <p:sp>
        <p:nvSpPr>
          <p:cNvPr id="251" name="Google Shape;251;p30"/>
          <p:cNvSpPr txBox="1"/>
          <p:nvPr>
            <p:ph idx="1" type="body"/>
          </p:nvPr>
        </p:nvSpPr>
        <p:spPr>
          <a:xfrm>
            <a:off x="819150" y="1560900"/>
            <a:ext cx="31884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Facebook AI Similarity Search (FAISS):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Libreria di Meta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Ricerca vettoriale veloce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Usata per retrieval dei chunk più rilevanti</a:t>
            </a:r>
            <a:endParaRPr sz="1800"/>
          </a:p>
        </p:txBody>
      </p:sp>
      <p:pic>
        <p:nvPicPr>
          <p:cNvPr id="252" name="Google Shape;252;p30" title="FAISSD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7550" y="1348763"/>
            <a:ext cx="4279524" cy="2872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>
            <p:ph type="title"/>
          </p:nvPr>
        </p:nvSpPr>
        <p:spPr>
          <a:xfrm>
            <a:off x="819163" y="4917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Retrieval</a:t>
            </a:r>
            <a:endParaRPr/>
          </a:p>
        </p:txBody>
      </p:sp>
      <p:sp>
        <p:nvSpPr>
          <p:cNvPr id="258" name="Google Shape;258;p31"/>
          <p:cNvSpPr txBox="1"/>
          <p:nvPr>
            <p:ph idx="1" type="body"/>
          </p:nvPr>
        </p:nvSpPr>
        <p:spPr>
          <a:xfrm>
            <a:off x="819150" y="12190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800"/>
              <a:t>Sono stati affrontati due metodi di Retrieval: </a:t>
            </a:r>
            <a:r>
              <a:rPr b="1" lang="it" sz="1800"/>
              <a:t>Similarity Search</a:t>
            </a:r>
            <a:r>
              <a:rPr lang="it" sz="1800"/>
              <a:t> e </a:t>
            </a:r>
            <a:r>
              <a:rPr b="1" lang="it" sz="1800"/>
              <a:t>Max Marginal Relevance (MMR)</a:t>
            </a:r>
            <a:r>
              <a:rPr lang="it" sz="1800"/>
              <a:t>. Il primo rileva la somiglianza semantica tra i </a:t>
            </a:r>
            <a:r>
              <a:rPr b="1" lang="it" sz="1800"/>
              <a:t>chunk </a:t>
            </a:r>
            <a:r>
              <a:rPr lang="it" sz="1800"/>
              <a:t>recuperati aiutando nella generazione precisa della risposta mentre il secondo cerca di equilibrare rilevanza e diversità nei documenti recuperati.</a:t>
            </a:r>
            <a:endParaRPr sz="1800"/>
          </a:p>
        </p:txBody>
      </p:sp>
      <p:pic>
        <p:nvPicPr>
          <p:cNvPr id="259" name="Google Shape;259;p31" title="SSvsMM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8075" y="2692500"/>
            <a:ext cx="4447851" cy="203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/>
          <p:nvPr>
            <p:ph type="title"/>
          </p:nvPr>
        </p:nvSpPr>
        <p:spPr>
          <a:xfrm>
            <a:off x="819150" y="487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Prompt &amp; Generation</a:t>
            </a:r>
            <a:endParaRPr/>
          </a:p>
        </p:txBody>
      </p:sp>
      <p:sp>
        <p:nvSpPr>
          <p:cNvPr id="265" name="Google Shape;265;p32"/>
          <p:cNvSpPr txBox="1"/>
          <p:nvPr>
            <p:ph idx="1" type="body"/>
          </p:nvPr>
        </p:nvSpPr>
        <p:spPr>
          <a:xfrm>
            <a:off x="819150" y="1442025"/>
            <a:ext cx="3102300" cy="27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Famiglie LLM </a:t>
            </a:r>
            <a:r>
              <a:rPr lang="it" sz="1800"/>
              <a:t>utilizzate per la generazione: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ChatGPT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Google Gemini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Mistral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66" name="Google Shape;26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300" y="1247125"/>
            <a:ext cx="4951025" cy="31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"/>
          <p:cNvSpPr txBox="1"/>
          <p:nvPr>
            <p:ph type="title"/>
          </p:nvPr>
        </p:nvSpPr>
        <p:spPr>
          <a:xfrm>
            <a:off x="819150" y="4824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Sperimentale</a:t>
            </a:r>
            <a:endParaRPr/>
          </a:p>
        </p:txBody>
      </p:sp>
      <p:sp>
        <p:nvSpPr>
          <p:cNvPr id="272" name="Google Shape;272;p33"/>
          <p:cNvSpPr txBox="1"/>
          <p:nvPr>
            <p:ph idx="1" type="body"/>
          </p:nvPr>
        </p:nvSpPr>
        <p:spPr>
          <a:xfrm>
            <a:off x="819150" y="11834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La fase sperimentale vuole </a:t>
            </a:r>
            <a:r>
              <a:rPr b="1" lang="it" sz="1800"/>
              <a:t>valutare le prestazioni</a:t>
            </a:r>
            <a:r>
              <a:rPr lang="it" sz="1800"/>
              <a:t> del sistema RAG creato. Il dataset di test utilizzati consiste in due forme di domande: </a:t>
            </a:r>
            <a:r>
              <a:rPr b="1" lang="it" sz="1800"/>
              <a:t>risposta</a:t>
            </a:r>
            <a:r>
              <a:rPr b="1" lang="it" sz="1800"/>
              <a:t> chiusa e </a:t>
            </a:r>
            <a:r>
              <a:rPr b="1" lang="it" sz="1800"/>
              <a:t>risposta</a:t>
            </a:r>
            <a:r>
              <a:rPr b="1" lang="it" sz="1800"/>
              <a:t> aperta</a:t>
            </a:r>
            <a:r>
              <a:rPr lang="it" sz="1800"/>
              <a:t>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800"/>
              <a:t>Vi sono in totale </a:t>
            </a:r>
            <a:r>
              <a:rPr b="1" lang="it" sz="1800"/>
              <a:t>65 domande</a:t>
            </a:r>
            <a:r>
              <a:rPr lang="it" sz="1800"/>
              <a:t>, di cui 45 a risposta chiusa e 20 a risposta aperta.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73" name="Google Shape;27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2350" y="3026349"/>
            <a:ext cx="5519300" cy="9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2350" y="4013945"/>
            <a:ext cx="5519300" cy="790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/>
          <p:nvPr>
            <p:ph type="title"/>
          </p:nvPr>
        </p:nvSpPr>
        <p:spPr>
          <a:xfrm>
            <a:off x="819150" y="4731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Metriche di valutazione</a:t>
            </a:r>
            <a:endParaRPr/>
          </a:p>
        </p:txBody>
      </p:sp>
      <p:sp>
        <p:nvSpPr>
          <p:cNvPr id="280" name="Google Shape;280;p34"/>
          <p:cNvSpPr txBox="1"/>
          <p:nvPr>
            <p:ph idx="1" type="body"/>
          </p:nvPr>
        </p:nvSpPr>
        <p:spPr>
          <a:xfrm>
            <a:off x="819150" y="13477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La metrica di valutazione utilizzata è </a:t>
            </a:r>
            <a:r>
              <a:rPr b="1" lang="it" sz="1800"/>
              <a:t>l’accuracy</a:t>
            </a:r>
            <a:r>
              <a:rPr lang="it" sz="1800"/>
              <a:t>, la percentuale di risposte corrette.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800"/>
              <a:t>Dato che non è corretto utilizzarla così come è per le domande aperte, è stata utilizzata la </a:t>
            </a:r>
            <a:r>
              <a:rPr b="1" lang="it" sz="1800"/>
              <a:t>cosine similarity</a:t>
            </a:r>
            <a:r>
              <a:rPr lang="it" sz="1800"/>
              <a:t> per valutare la similarità delle risposte e </a:t>
            </a:r>
            <a:r>
              <a:rPr b="1" lang="it" sz="1800"/>
              <a:t>threshold</a:t>
            </a:r>
            <a:r>
              <a:rPr lang="it" sz="1800"/>
              <a:t> diverse che stabilivano in modo booleano la correttezza della </a:t>
            </a:r>
            <a:r>
              <a:rPr lang="it" sz="1800"/>
              <a:t>risposta aperta.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81" name="Google Shape;28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4725" y="3719900"/>
            <a:ext cx="2414558" cy="54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819138" y="3656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Risultati Sperimentali</a:t>
            </a:r>
            <a:endParaRPr/>
          </a:p>
        </p:txBody>
      </p:sp>
      <p:pic>
        <p:nvPicPr>
          <p:cNvPr id="287" name="Google Shape;28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38" y="1010300"/>
            <a:ext cx="8010525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"/>
          <p:cNvSpPr txBox="1"/>
          <p:nvPr>
            <p:ph type="title"/>
          </p:nvPr>
        </p:nvSpPr>
        <p:spPr>
          <a:xfrm>
            <a:off x="819138" y="3656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Risultati Sperimentali: Domande chiuse</a:t>
            </a:r>
            <a:endParaRPr/>
          </a:p>
        </p:txBody>
      </p:sp>
      <p:pic>
        <p:nvPicPr>
          <p:cNvPr id="293" name="Google Shape;29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650" y="1005200"/>
            <a:ext cx="5588699" cy="376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7650" y="965650"/>
            <a:ext cx="5588701" cy="3839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819138" y="3656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Risultati Sperimentali: Domande aperte</a:t>
            </a:r>
            <a:endParaRPr/>
          </a:p>
        </p:txBody>
      </p:sp>
      <p:pic>
        <p:nvPicPr>
          <p:cNvPr id="300" name="Google Shape;30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5562" y="966074"/>
            <a:ext cx="5672874" cy="384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6390" y="966075"/>
            <a:ext cx="5511185" cy="384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8"/>
          <p:cNvSpPr txBox="1"/>
          <p:nvPr>
            <p:ph type="title"/>
          </p:nvPr>
        </p:nvSpPr>
        <p:spPr>
          <a:xfrm>
            <a:off x="819150" y="487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Conclusione e sviluppi futuri</a:t>
            </a:r>
            <a:endParaRPr/>
          </a:p>
        </p:txBody>
      </p:sp>
      <p:sp>
        <p:nvSpPr>
          <p:cNvPr id="307" name="Google Shape;307;p38"/>
          <p:cNvSpPr txBox="1"/>
          <p:nvPr>
            <p:ph idx="1" type="body"/>
          </p:nvPr>
        </p:nvSpPr>
        <p:spPr>
          <a:xfrm>
            <a:off x="819150" y="1233125"/>
            <a:ext cx="7505700" cy="29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Sistema RAG sviluppato e valutato su 65 domande (chiuse e aperte)</a:t>
            </a:r>
            <a:endParaRPr sz="1800"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Due strategie di Retrieval: Similarity Search e MMR</a:t>
            </a:r>
            <a:endParaRPr sz="1800"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RAG efficace e fornisce </a:t>
            </a:r>
            <a:r>
              <a:rPr b="1" lang="it" sz="1800"/>
              <a:t>risposte accurate e rapide</a:t>
            </a:r>
            <a:endParaRPr b="1" sz="1800"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 sz="1800"/>
              <a:t>Similarity Search</a:t>
            </a:r>
            <a:r>
              <a:rPr lang="it" sz="1800"/>
              <a:t> ha ottenuto prestazioni migliori e stabili</a:t>
            </a:r>
            <a:endParaRPr sz="18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Ampliare la documentazione di partenza</a:t>
            </a:r>
            <a:endParaRPr sz="1800"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Migliorare la fase di splitting</a:t>
            </a:r>
            <a:endParaRPr sz="1800"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Approcci di </a:t>
            </a:r>
            <a:r>
              <a:rPr b="1" lang="it" sz="1800"/>
              <a:t>Retrieval ibridi</a:t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>
            <p:ph type="title"/>
          </p:nvPr>
        </p:nvSpPr>
        <p:spPr>
          <a:xfrm>
            <a:off x="819150" y="2199900"/>
            <a:ext cx="7505700" cy="7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4000"/>
              <a:t>GRAZIE PER L’ATTENZIONE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